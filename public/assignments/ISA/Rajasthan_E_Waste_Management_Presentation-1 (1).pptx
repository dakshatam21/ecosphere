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presProps" Target="presProps.xml"/><Relationship Id="rId21" Type="http://schemas.openxmlformats.org/officeDocument/2006/relationships/customXml" Target="../customXml/item2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customXml" Target="../customXml/item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7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700" b="1">
                <a:solidFill>
                  <a:srgbClr val="FFFFFF"/>
                </a:solidFill>
              </a:defRPr>
            </a:pPr>
            <a:r>
              <a:t>E-WASTE MANAGEMENT IN RAJASTHAN</a:t>
            </a:r>
          </a:p>
          <a:p>
            <a:pPr>
              <a:spcBef>
                <a:spcPts val="1500"/>
              </a:spcBef>
              <a:defRPr sz="2000">
                <a:solidFill>
                  <a:srgbClr val="DCEBF5"/>
                </a:solidFill>
              </a:defRPr>
            </a:pPr>
            <a:r>
              <a:t>Generation • Collection • EPR • Recycling • Informal Sector • Sustainability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52120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Academic presentation based on the Rajasthan project dataset and RSPCB public records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1. Rajasthan E-Waste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353312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69AA"/>
                </a:solidFill>
              </a:defRPr>
            </a:pPr>
            <a:r>
              <a:t>7.54 Mt</a:t>
            </a:r>
          </a:p>
          <a:p>
            <a:pPr algn="ctr">
              <a:defRPr sz="1000">
                <a:solidFill>
                  <a:srgbClr val="232B33"/>
                </a:solidFill>
              </a:defRPr>
            </a:pPr>
            <a:r>
              <a:t>Estimated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1887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353312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69AA"/>
                </a:solidFill>
              </a:defRPr>
            </a:pPr>
            <a:r>
              <a:t>2926.0 kt</a:t>
            </a:r>
          </a:p>
          <a:p>
            <a:pPr algn="ctr">
              <a:defRPr sz="1000">
                <a:solidFill>
                  <a:srgbClr val="232B33"/>
                </a:solidFill>
              </a:defRPr>
            </a:pPr>
            <a:r>
              <a:t>Collected in project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1353312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69AA"/>
                </a:solidFill>
              </a:defRPr>
            </a:pPr>
            <a:r>
              <a:t>20</a:t>
            </a:r>
          </a:p>
          <a:p>
            <a:pPr algn="ctr">
              <a:defRPr sz="1000">
                <a:solidFill>
                  <a:srgbClr val="232B33"/>
                </a:solidFill>
              </a:defRPr>
            </a:pPr>
            <a:r>
              <a:t>Districts covered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39" y="118872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79" y="1353312"/>
            <a:ext cx="2331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A69AA"/>
                </a:solidFill>
              </a:defRPr>
            </a:pPr>
            <a:r>
              <a:t>91.7%</a:t>
            </a:r>
          </a:p>
          <a:p>
            <a:pPr algn="ctr">
              <a:defRPr sz="1000">
                <a:solidFill>
                  <a:srgbClr val="232B33"/>
                </a:solidFill>
              </a:defRPr>
            </a:pPr>
            <a:r>
              <a:t>EPR target achievement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3464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Jaipur is the highest-generation district in the project dataset.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Major urban and industrial centres dominate generation.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Rajasthan has an established formal ecosystem of authorized recyclers, refurbishers and EPR-authorized producers.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RSPCB publishes authorized-facility and collection information.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2. District-wise E-Waste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E78"/>
                </a:solidFill>
              </a:defRPr>
            </a:pPr>
            <a:r>
              <a:t>Estimated project values</a:t>
            </a:r>
          </a:p>
        </p:txBody>
      </p:sp>
      <p:pic>
        <p:nvPicPr>
          <p:cNvPr id="5" name="Picture 4" descr="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7589520" cy="42691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28016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Jaipur – 999.5 t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Jodhpur – 566.0 t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Alwar – 546.5 t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Udaipur – 460.0 t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Bharatpur, Sikar, Ajmer and Bhilwara are also significant contributors.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3. Collection and EPR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E78"/>
                </a:solidFill>
              </a:defRPr>
            </a:pPr>
            <a:r>
              <a:t>Project collection-log dataset</a:t>
            </a:r>
          </a:p>
        </p:txBody>
      </p:sp>
      <p:pic>
        <p:nvPicPr>
          <p:cNvPr id="5" name="Picture 4" descr="col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7680960" cy="4320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66760" y="132588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Collection recorded: 2926.0 kt across the 20-district dataset.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Overall EPR target achievement: 91.7%.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Collection capacity varies by district.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The figures are academic estimates and should not be presented as official RSPCB statistics.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 E-Waste Composition in the Project Dataset</a:t>
            </a:r>
          </a:p>
        </p:txBody>
      </p:sp>
      <p:pic>
        <p:nvPicPr>
          <p:cNvPr id="4" name="Picture 3" descr="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5394960" cy="43159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13258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IT &amp; Telecom is the largest category in the project model.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Consumer electronics is the second-largest category.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Lighting, batteries and other items form smaller shares.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Composition values are project assumptions, not laboratory measurements.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5. Authorized E-Waste Companies / Facilities in Rajasthan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E78"/>
                </a:solidFill>
              </a:defRPr>
            </a:pPr>
            <a:r>
              <a:t>Selected current RSPCB-listed facilities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51560"/>
          <a:ext cx="111556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7912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Facility</a:t>
                      </a:r>
                    </a:p>
                  </a:txBody>
                  <a:tcPr>
                    <a:solidFill>
                      <a:srgbClr val="183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183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1837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>
                    <a:solidFill>
                      <a:srgbClr val="18375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ETCO E-Waste Recycler Pvt. Ltd.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Jaipur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Recycling &amp; Refurbishing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4,490 MTA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Adatte E-Waste Management Pvt. Ltd.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Alwar/Tijara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Recycling &amp; Dismantling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1,780 MTA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GS International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Sikar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Dismantling &amp; Refurbishing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600 MTA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Shukla E-waste 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Bhiwadi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Recycling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680 MTA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SAS Tech E-waste Recycling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Churu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Recycling &amp; Refurbishing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1,050 MTA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Telsys Green Web Recycling Pvt. Ltd.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Jaipur/Chomu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Recycling &amp; Refurbishing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13,200 MTA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Universal E-Waste Recycling Pvt. Ltd.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Khairthal-Tijara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Recycling &amp; Refurbishing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6,920 MTA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WORTECH Engineers Pvt. Ltd.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Jaipur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Recycling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32B33"/>
                          </a:solidFill>
                        </a:defRPr>
                      </a:pPr>
                      <a:r>
                        <a:t>19,800 TPA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6. EPR-Authorized Producers in Rajasthan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9494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6E78"/>
                </a:solidFill>
              </a:defRPr>
            </a:pPr>
            <a:r>
              <a:t>Current RSPCB public list – 13 entries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ETCO E-Waste Recycler Pvt. Ltd. – Jaipur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Integratedmobi Tech Pvt. Ltd. – Chittorgarh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Allied Electronics &amp; Magnetics Ltd. – Udaipur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ITG Software Engineering India Pvt. Ltd. – Jaipur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Lipi Data Systems Ltd. – Udaipur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Greenlet Recyclers Pvt. Ltd. – Jaipur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Pragya Global Pvt. Ltd. – Jaipur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Kumbhat International – Jodhpur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Toshita International LLP – Jaipur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Greenscape Eco Management Pvt. Ltd. – Alwar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Texmaco Rail &amp; Engineering Ltd. – Jaipur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R. K. Impex – Jaipur</a:t>
            </a:r>
          </a:p>
          <a:p>
            <a:pPr>
              <a:spcAft>
                <a:spcPts val="900"/>
              </a:spcAft>
              <a:defRPr sz="1400">
                <a:solidFill>
                  <a:srgbClr val="232B33"/>
                </a:solidFill>
              </a:defRPr>
            </a:pPr>
            <a:r>
              <a:t>• Jiya Impex –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7. Policy &amp; Institutional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E-Waste (Management) Rules, 2022 – national EPR framework.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CPCB – national registration, EPR and compliance framework.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RSPCB – state authorization, monitoring and public information.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RSPCB provides lists of authorized recyclers/dismantlers/refurbishers, EPR-authorized producers and collection facilities.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Rajasthan has also conducted dedicated e-waste collection-drive initiatives.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8. Informal Sector, Environment &amp;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Informal collectors remain important for reaching dispersed e-waste streams.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Formal integration should provide registration, training, PPE and links to authorized recyclers.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Project monitoring includes soil, water and air observations at selected hotspots.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Selected project entries flag elevated heavy metals/dust, indicating the need for periodic monitoring.</a:t>
            </a:r>
          </a:p>
          <a:p>
            <a:pPr>
              <a:spcAft>
                <a:spcPts val="900"/>
              </a:spcAft>
              <a:defRPr sz="1700">
                <a:solidFill>
                  <a:srgbClr val="232B33"/>
                </a:solidFill>
              </a:defRPr>
            </a:pPr>
            <a:r>
              <a:t>• Safe dismantling and controlled recycling reduce exposure to hazardous substances.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9. Key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Uneven collection infrastructure across districts.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High dependence on informal collection/dismantling.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Limited public awareness of authorized disposal routes.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Need for stronger EPR tracking and enforcement.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Recycling capacity is concentrated around industrial clusters.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Need for continuous environmental and occupational-health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10. Recommendations for Rajasthan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32B33"/>
                </a:solidFill>
              </a:defRPr>
            </a:pPr>
            <a:r>
              <a:t>• Expand district-level collection points and mobile collection drives.</a:t>
            </a:r>
          </a:p>
          <a:p>
            <a:pPr>
              <a:spcAft>
                <a:spcPts val="900"/>
              </a:spcAft>
              <a:defRPr sz="1600">
                <a:solidFill>
                  <a:srgbClr val="232B33"/>
                </a:solidFill>
              </a:defRPr>
            </a:pPr>
            <a:r>
              <a:t>• Integrate informal collectors through registration, training and safety equipment.</a:t>
            </a:r>
          </a:p>
          <a:p>
            <a:pPr>
              <a:spcAft>
                <a:spcPts val="900"/>
              </a:spcAft>
              <a:defRPr sz="1600">
                <a:solidFill>
                  <a:srgbClr val="232B33"/>
                </a:solidFill>
              </a:defRPr>
            </a:pPr>
            <a:r>
              <a:t>• Strengthen digital EPR tracking and target verification.</a:t>
            </a:r>
          </a:p>
          <a:p>
            <a:pPr>
              <a:spcAft>
                <a:spcPts val="900"/>
              </a:spcAft>
              <a:defRPr sz="1600">
                <a:solidFill>
                  <a:srgbClr val="232B33"/>
                </a:solidFill>
              </a:defRPr>
            </a:pPr>
            <a:r>
              <a:t>• Promote repair, refurbishment and reuse before recycling.</a:t>
            </a:r>
          </a:p>
          <a:p>
            <a:pPr>
              <a:spcAft>
                <a:spcPts val="900"/>
              </a:spcAft>
              <a:defRPr sz="1600">
                <a:solidFill>
                  <a:srgbClr val="232B33"/>
                </a:solidFill>
              </a:defRPr>
            </a:pPr>
            <a:r>
              <a:t>• Use GIS/AI for generation forecasting and collection-gap mapping.</a:t>
            </a:r>
          </a:p>
          <a:p>
            <a:pPr>
              <a:spcAft>
                <a:spcPts val="900"/>
              </a:spcAft>
              <a:defRPr sz="1600">
                <a:solidFill>
                  <a:srgbClr val="232B33"/>
                </a:solidFill>
              </a:defRPr>
            </a:pPr>
            <a:r>
              <a:t>• Increase awareness in schools, colleges, offices and households.</a:t>
            </a:r>
          </a:p>
          <a:p>
            <a:pPr>
              <a:spcAft>
                <a:spcPts val="900"/>
              </a:spcAft>
              <a:defRPr sz="1600">
                <a:solidFill>
                  <a:srgbClr val="232B33"/>
                </a:solidFill>
              </a:defRPr>
            </a:pPr>
            <a:r>
              <a:t>• Encourage investment in safe material recovery and modern recycling facilities.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Rajasthan faces a growing e-waste challenge alongside urbanization and digitalization.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The project dataset identifies Jaipur, Jodhpur, Alwar and other urban/industrial districts as major generation centres.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The state already has a formal ecosystem of authorized recyclers, refurbishers and EPR-authorized producers.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The next priority is to connect generation, collection, EPR and recycling through a transparent, safe and circular system.</a:t>
            </a:r>
          </a:p>
          <a:p>
            <a:pPr>
              <a:spcAft>
                <a:spcPts val="900"/>
              </a:spcAft>
              <a:defRPr sz="1800">
                <a:solidFill>
                  <a:srgbClr val="232B33"/>
                </a:solidFill>
              </a:defRPr>
            </a:pPr>
            <a:r>
              <a:t>• Better collection, formal-sector integration and public awareness can improve resource recovery and reduce environmental risks.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12. Sources &amp; Data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Rajasthan State Pollution Control Board (RSPCB) – E-Waste Management portal.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RSPCB – List of Dismantlers / Re-furbishers / Recyclers Authorized by RSPCB (updated 24 July 2026).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RSPCB – List of Producers granted EPR Authorization in Rajasthan (updated 24 July 2026).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RSPCB – E-Waste Collection Drive 2025 resources.</a:t>
            </a:r>
          </a:p>
          <a:p>
            <a:pPr>
              <a:spcAft>
                <a:spcPts val="900"/>
              </a:spcAft>
              <a:defRPr sz="1500">
                <a:solidFill>
                  <a:srgbClr val="232B33"/>
                </a:solidFill>
              </a:defRPr>
            </a:pPr>
            <a:r>
              <a:t>• Rajasthan project E-Waste Management Tracker – district generation and collection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3212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E78"/>
                </a:solidFill>
              </a:defRPr>
            </a:pPr>
            <a:r>
              <a:t>Data note: district generation/collection values are project estimates; use verified CPCB/RSPCB figures for official reporting.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Rajasthan E-Waste Management | 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E45BCADE012848BADD84F0F5519C36" ma:contentTypeVersion="13" ma:contentTypeDescription="Create a new document." ma:contentTypeScope="" ma:versionID="749d6923f222eb45ac0dc6063575a178">
  <xsd:schema xmlns:xsd="http://www.w3.org/2001/XMLSchema" xmlns:xs="http://www.w3.org/2001/XMLSchema" xmlns:p="http://schemas.microsoft.com/office/2006/metadata/properties" xmlns:ns2="c49d017b-ac22-4c0b-a7a4-c8b9eca6cd70" xmlns:ns3="e0d206d7-ee7c-42da-b133-6e7342787b39" targetNamespace="http://schemas.microsoft.com/office/2006/metadata/properties" ma:root="true" ma:fieldsID="e99e7a50f06ef0e0bf1d9a36c1212498" ns2:_="" ns3:_="">
    <xsd:import namespace="c49d017b-ac22-4c0b-a7a4-c8b9eca6cd70"/>
    <xsd:import namespace="e0d206d7-ee7c-42da-b133-6e7342787b3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9d017b-ac22-4c0b-a7a4-c8b9eca6cd7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d206d7-ee7c-42da-b133-6e7342787b3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5d6c0a8-0dd6-40f9-b8c8-aca075772b73}" ma:internalName="TaxCatchAll" ma:showField="CatchAllData" ma:web="e0d206d7-ee7c-42da-b133-6e7342787b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9d017b-ac22-4c0b-a7a4-c8b9eca6cd70">
      <Terms xmlns="http://schemas.microsoft.com/office/infopath/2007/PartnerControls"/>
    </lcf76f155ced4ddcb4097134ff3c332f>
    <TaxCatchAll xmlns="e0d206d7-ee7c-42da-b133-6e7342787b39" xsi:nil="true"/>
    <ReferenceId xmlns="c49d017b-ac22-4c0b-a7a4-c8b9eca6cd70" xsi:nil="true"/>
  </documentManagement>
</p:properties>
</file>

<file path=customXml/itemProps1.xml><?xml version="1.0" encoding="utf-8"?>
<ds:datastoreItem xmlns:ds="http://schemas.openxmlformats.org/officeDocument/2006/customXml" ds:itemID="{1520047F-1683-40AE-BC85-8FC4D0AA9377}"/>
</file>

<file path=customXml/itemProps2.xml><?xml version="1.0" encoding="utf-8"?>
<ds:datastoreItem xmlns:ds="http://schemas.openxmlformats.org/officeDocument/2006/customXml" ds:itemID="{EDD81598-987A-4FC0-9DDB-008F0BF1BD70}"/>
</file>

<file path=customXml/itemProps3.xml><?xml version="1.0" encoding="utf-8"?>
<ds:datastoreItem xmlns:ds="http://schemas.openxmlformats.org/officeDocument/2006/customXml" ds:itemID="{80133A70-651B-4DD6-943A-04CBFCA125CE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0x01010029E45BCADE012848BADD84F0F5519C36</vt:lpwstr>
  </property>
</Properties>
</file>